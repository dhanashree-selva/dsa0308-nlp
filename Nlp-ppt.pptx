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4"/>
  </p:notesMasterIdLst>
  <p:sldIdLst>
    <p:sldId id="256" r:id="rId3"/>
    <p:sldId id="257" r:id="rId5"/>
    <p:sldId id="258" r:id="rId6"/>
    <p:sldId id="259" r:id="rId7"/>
    <p:sldId id="273" r:id="rId8"/>
    <p:sldId id="277" r:id="rId9"/>
    <p:sldId id="278" r:id="rId10"/>
    <p:sldId id="261" r:id="rId11"/>
    <p:sldId id="271" r:id="rId12"/>
    <p:sldId id="274" r:id="rId13"/>
    <p:sldId id="276" r:id="rId14"/>
    <p:sldId id="268" r:id="rId15"/>
    <p:sldId id="269"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58" d="100"/>
          <a:sy n="58" d="100"/>
        </p:scale>
        <p:origin x="964"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22860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1" name="Google Shape;11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 name="Google Shape;12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1"/>
        <p:cNvGrpSpPr/>
        <p:nvPr/>
      </p:nvGrpSpPr>
      <p:grpSpPr>
        <a:xfrm>
          <a:off x="0" y="0"/>
          <a:ext cx="0" cy="0"/>
          <a:chOff x="0" y="0"/>
          <a:chExt cx="0" cy="0"/>
        </a:xfrm>
      </p:grpSpPr>
      <p:sp>
        <p:nvSpPr>
          <p:cNvPr id="232" name="Google Shape;23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3" name="Google Shape;23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2"/>
        <p:cNvGrpSpPr/>
        <p:nvPr/>
      </p:nvGrpSpPr>
      <p:grpSpPr>
        <a:xfrm>
          <a:off x="0" y="0"/>
          <a:ext cx="0" cy="0"/>
          <a:chOff x="0" y="0"/>
          <a:chExt cx="0" cy="0"/>
        </a:xfrm>
      </p:grpSpPr>
      <p:sp>
        <p:nvSpPr>
          <p:cNvPr id="243" name="Google Shape;24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4" name="Google Shape;24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1" name="Google Shape;61;p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2" name="Google Shape;62;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a:spLocks noGrp="1"/>
          </p:cNvSpPr>
          <p:nvPr>
            <p:ph type="pic" idx="2"/>
          </p:nvPr>
        </p:nvSpPr>
        <p:spPr>
          <a:xfrm>
            <a:off x="2389717" y="612775"/>
            <a:ext cx="7315200" cy="4114800"/>
          </a:xfrm>
          <a:prstGeom prst="rect">
            <a:avLst/>
          </a:prstGeom>
          <a:noFill/>
          <a:ln>
            <a:noFill/>
          </a:ln>
        </p:spPr>
      </p:sp>
      <p:sp>
        <p:nvSpPr>
          <p:cNvPr id="68" name="Google Shape;68;p1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9" name="Google Shape;69;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5" name="Google Shape;75;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1" name="Google Shape;81;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402590" y="3428365"/>
            <a:ext cx="11375390" cy="941705"/>
          </a:xfrm>
          <a:prstGeom prst="rect">
            <a:avLst/>
          </a:prstGeom>
          <a:noFill/>
          <a:ln>
            <a:noFill/>
          </a:ln>
        </p:spPr>
        <p:txBody>
          <a:bodyPr spcFirstLastPara="1" wrap="square" lIns="91425" tIns="45700" rIns="91425" bIns="45700" anchor="ctr" anchorCtr="0">
            <a:noAutofit/>
          </a:bodyPr>
          <a:lstStyle/>
          <a:p>
            <a:r>
              <a:rPr lang="en-US" sz="2000" dirty="0">
                <a:latin typeface="Times New Roman" panose="02020603050405020304" pitchFamily="18" charset="0"/>
                <a:cs typeface="Times New Roman" panose="02020603050405020304" pitchFamily="18" charset="0"/>
              </a:rPr>
              <a:t>DSA03-Natural Language Processsing</a:t>
            </a:r>
            <a:endParaRPr lang="en-US" sz="2000" dirty="0">
              <a:latin typeface="Times New Roman" panose="02020603050405020304" pitchFamily="18" charset="0"/>
              <a:cs typeface="Times New Roman" panose="02020603050405020304" pitchFamily="18" charset="0"/>
            </a:endParaRPr>
          </a:p>
        </p:txBody>
      </p:sp>
      <p:sp>
        <p:nvSpPr>
          <p:cNvPr id="89" name="Google Shape;89;p13"/>
          <p:cNvSpPr txBox="1">
            <a:spLocks noGrp="1"/>
          </p:cNvSpPr>
          <p:nvPr>
            <p:ph type="subTitle" idx="1"/>
          </p:nvPr>
        </p:nvSpPr>
        <p:spPr>
          <a:xfrm>
            <a:off x="6587613" y="4405744"/>
            <a:ext cx="5509965" cy="245225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0C0C0C"/>
              </a:buClr>
              <a:buSzPts val="2600"/>
              <a:buNone/>
            </a:pPr>
            <a:r>
              <a:rPr lang="en-US" sz="2200" b="1" dirty="0">
                <a:solidFill>
                  <a:srgbClr val="0C0C0C"/>
                </a:solidFill>
                <a:latin typeface="Times New Roman" panose="02020603050405020304"/>
                <a:ea typeface="Times New Roman" panose="02020603050405020304"/>
                <a:cs typeface="Times New Roman" panose="02020603050405020304"/>
                <a:sym typeface="Times New Roman" panose="02020603050405020304"/>
              </a:rPr>
              <a:t>Presented by: </a:t>
            </a:r>
            <a:endParaRPr lang="en-US" sz="22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spcBef>
                <a:spcPts val="0"/>
              </a:spcBef>
              <a:spcAft>
                <a:spcPts val="0"/>
              </a:spcAft>
              <a:buClr>
                <a:srgbClr val="0C0C0C"/>
              </a:buClr>
              <a:buSzPts val="2600"/>
              <a:buNone/>
            </a:pPr>
            <a:r>
              <a:rPr lang="en-US" altLang="en-US" sz="2200" dirty="0">
                <a:solidFill>
                  <a:schemeClr val="tx1"/>
                </a:solidFill>
                <a:latin typeface="Times New Roman" panose="02020603050405020304" pitchFamily="18" charset="0"/>
                <a:cs typeface="Times New Roman" panose="02020603050405020304" pitchFamily="18" charset="0"/>
                <a:sym typeface="+mn-ea"/>
              </a:rPr>
              <a:t>Lokeshwara H-192325120</a:t>
            </a:r>
            <a:endParaRPr lang="en-US" sz="22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0" lvl="0" indent="0">
              <a:spcBef>
                <a:spcPts val="0"/>
              </a:spcBef>
              <a:buClr>
                <a:srgbClr val="0C0C0C"/>
              </a:buClr>
              <a:buSzPts val="2600"/>
            </a:pPr>
            <a:r>
              <a:rPr lang="en-US" altLang="en-IN" sz="2400" dirty="0">
                <a:solidFill>
                  <a:schemeClr val="tx1"/>
                </a:solidFill>
                <a:latin typeface="Times New Roman" panose="02020603050405020304" pitchFamily="18" charset="0"/>
                <a:cs typeface="Times New Roman" panose="02020603050405020304" pitchFamily="18" charset="0"/>
              </a:rPr>
              <a:t>T S Sai Lahari-192325137</a:t>
            </a:r>
            <a:endParaRPr lang="en-US" altLang="en-IN" sz="2400" dirty="0">
              <a:solidFill>
                <a:schemeClr val="tx1"/>
              </a:solidFill>
              <a:latin typeface="Times New Roman" panose="02020603050405020304" pitchFamily="18" charset="0"/>
              <a:cs typeface="Times New Roman" panose="02020603050405020304" pitchFamily="18" charset="0"/>
            </a:endParaRPr>
          </a:p>
          <a:p>
            <a:pPr marL="0" lvl="0" indent="0">
              <a:spcBef>
                <a:spcPts val="0"/>
              </a:spcBef>
              <a:buClr>
                <a:srgbClr val="0C0C0C"/>
              </a:buClr>
              <a:buSzPts val="2600"/>
            </a:pPr>
            <a:r>
              <a:rPr lang="en-US" altLang="en-US" sz="2400" dirty="0">
                <a:solidFill>
                  <a:schemeClr val="tx1"/>
                </a:solidFill>
                <a:latin typeface="Times New Roman" panose="02020603050405020304" pitchFamily="18" charset="0"/>
                <a:cs typeface="Times New Roman" panose="02020603050405020304" pitchFamily="18" charset="0"/>
              </a:rPr>
              <a:t>Balivada Ramya Sri</a:t>
            </a:r>
            <a:r>
              <a:rPr lang="en-US" altLang="en-IN" sz="2400" dirty="0">
                <a:solidFill>
                  <a:schemeClr val="tx1"/>
                </a:solidFill>
                <a:latin typeface="Times New Roman" panose="02020603050405020304" pitchFamily="18" charset="0"/>
                <a:cs typeface="Times New Roman" panose="02020603050405020304" pitchFamily="18" charset="0"/>
              </a:rPr>
              <a:t>-</a:t>
            </a:r>
            <a:r>
              <a:rPr lang="en-US" altLang="en-US" sz="2400" dirty="0">
                <a:solidFill>
                  <a:schemeClr val="tx1"/>
                </a:solidFill>
                <a:latin typeface="Times New Roman" panose="02020603050405020304" pitchFamily="18" charset="0"/>
                <a:cs typeface="Times New Roman" panose="02020603050405020304" pitchFamily="18" charset="0"/>
              </a:rPr>
              <a:t>192324262</a:t>
            </a: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spcBef>
                <a:spcPts val="0"/>
              </a:spcBef>
              <a:buClr>
                <a:srgbClr val="0C0C0C"/>
              </a:buClr>
              <a:buSzPts val="2600"/>
            </a:pPr>
            <a:r>
              <a:rPr lang="en-IN" sz="2400" dirty="0">
                <a:solidFill>
                  <a:schemeClr val="tx1"/>
                </a:solidFill>
                <a:latin typeface="Times New Roman" panose="02020603050405020304" pitchFamily="18" charset="0"/>
                <a:cs typeface="Times New Roman" panose="02020603050405020304" pitchFamily="18" charset="0"/>
                <a:sym typeface="+mn-ea"/>
              </a:rPr>
              <a:t>S.Dhanashree-192325082</a:t>
            </a: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spcBef>
                <a:spcPts val="0"/>
              </a:spcBef>
              <a:buClr>
                <a:srgbClr val="0C0C0C"/>
              </a:buClr>
              <a:buSzPts val="2600"/>
            </a:pPr>
            <a:endParaRPr lang="en-US" sz="2200" dirty="0">
              <a:solidFill>
                <a:schemeClr val="tx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90" name="Google Shape;90;p13"/>
          <p:cNvPicPr preferRelativeResize="0"/>
          <p:nvPr/>
        </p:nvPicPr>
        <p:blipFill rotWithShape="1">
          <a:blip r:embed="rId1"/>
          <a:srcRect/>
          <a:stretch>
            <a:fillRect/>
          </a:stretch>
        </p:blipFill>
        <p:spPr>
          <a:xfrm>
            <a:off x="1024331" y="475651"/>
            <a:ext cx="1135117" cy="1342884"/>
          </a:xfrm>
          <a:prstGeom prst="rect">
            <a:avLst/>
          </a:prstGeom>
          <a:noFill/>
          <a:ln>
            <a:noFill/>
          </a:ln>
        </p:spPr>
      </p:pic>
      <p:pic>
        <p:nvPicPr>
          <p:cNvPr id="91" name="Google Shape;91;p13"/>
          <p:cNvPicPr preferRelativeResize="0"/>
          <p:nvPr/>
        </p:nvPicPr>
        <p:blipFill rotWithShape="1">
          <a:blip r:embed="rId2"/>
          <a:srcRect/>
          <a:stretch>
            <a:fillRect/>
          </a:stretch>
        </p:blipFill>
        <p:spPr>
          <a:xfrm>
            <a:off x="9647555" y="328508"/>
            <a:ext cx="1520114" cy="1342884"/>
          </a:xfrm>
          <a:prstGeom prst="rect">
            <a:avLst/>
          </a:prstGeom>
          <a:noFill/>
          <a:ln>
            <a:noFill/>
          </a:ln>
        </p:spPr>
      </p:pic>
      <p:sp>
        <p:nvSpPr>
          <p:cNvPr id="92" name="Google Shape;92;p13"/>
          <p:cNvSpPr txBox="1"/>
          <p:nvPr/>
        </p:nvSpPr>
        <p:spPr>
          <a:xfrm>
            <a:off x="596406" y="4722854"/>
            <a:ext cx="3538650" cy="767080"/>
          </a:xfrm>
          <a:prstGeom prst="rect">
            <a:avLst/>
          </a:prstGeom>
          <a:noFill/>
          <a:ln>
            <a:noFill/>
          </a:ln>
        </p:spPr>
        <p:txBody>
          <a:bodyPr spcFirstLastPara="1" wrap="square" lIns="91425" tIns="45700" rIns="91425" bIns="45700" anchor="t" anchorCtr="0">
            <a:spAutoFit/>
          </a:bodyPr>
          <a:lstStyle/>
          <a:p>
            <a:pPr algn="ctr"/>
            <a:r>
              <a:rPr lang="en-US" sz="22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Guided By</a:t>
            </a:r>
            <a:br>
              <a:rPr lang="en-US" sz="2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Kumaragurubarar T</a:t>
            </a:r>
            <a:endParaRPr lang="en-US" sz="22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4" name="Google Shape;94;p13"/>
          <p:cNvSpPr txBox="1"/>
          <p:nvPr/>
        </p:nvSpPr>
        <p:spPr>
          <a:xfrm>
            <a:off x="2544445" y="386715"/>
            <a:ext cx="6684396" cy="11387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SIMATS ENGINEERING</a:t>
            </a:r>
            <a:endParaRPr lang="en-US" sz="28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r>
              <a:rPr lang="en-US"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SAVEETHA INSTITUTE OF MEDICAL AND TECHNICAL SCIENCES</a:t>
            </a:r>
            <a:endParaRPr sz="20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93;p13"/>
          <p:cNvSpPr txBox="1"/>
          <p:nvPr/>
        </p:nvSpPr>
        <p:spPr>
          <a:xfrm>
            <a:off x="2365731" y="1671392"/>
            <a:ext cx="7041823"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Capstone project presentation</a:t>
            </a:r>
            <a:endParaRPr sz="2800" dirty="0">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3" name="Table 2"/>
          <p:cNvGraphicFramePr>
            <a:graphicFrameLocks noGrp="1"/>
          </p:cNvGraphicFramePr>
          <p:nvPr/>
        </p:nvGraphicFramePr>
        <p:xfrm>
          <a:off x="596406" y="1707379"/>
          <a:ext cx="11094720" cy="2130425"/>
        </p:xfrm>
        <a:graphic>
          <a:graphicData uri="http://schemas.openxmlformats.org/drawingml/2006/table">
            <a:tbl>
              <a:tblPr/>
              <a:tblGrid>
                <a:gridCol w="11094852"/>
              </a:tblGrid>
              <a:tr h="2130425">
                <a:tc>
                  <a:txBody>
                    <a:bodyPr/>
                    <a:lstStyle/>
                    <a:p>
                      <a:pPr algn="ctr">
                        <a:buNone/>
                      </a:pPr>
                      <a:r>
                        <a:rPr lang="en-US" altLang="en-US" sz="2400" dirty="0">
                          <a:latin typeface="Times New Roman" panose="02020603050405020304" pitchFamily="18" charset="0"/>
                          <a:cs typeface="Times New Roman" panose="02020603050405020304" pitchFamily="18" charset="0"/>
                        </a:rPr>
                        <a:t>Design and Development of an NLP-Based Multilingual Voice-Enabled Billing System for Micro-Retail Stores</a:t>
                      </a:r>
                      <a:endParaRPr lang="en-US" altLang="en-US" sz="24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ABSTRACT</a:t>
            </a:r>
            <a:endPar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01" name="Google Shape;101;p14"/>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02" name="Google Shape;102;p14"/>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103" name="Google Shape;103;p14" descr="How to Build an Online Food Ordering System [Complete Guide]"/>
          <p:cNvSpPr/>
          <p:nvPr/>
        </p:nvSpPr>
        <p:spPr>
          <a:xfrm>
            <a:off x="6892414" y="2133600"/>
            <a:ext cx="5034116" cy="321514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4" name="Google Shape;104;p14" descr="How to Build an Online Food Ordering System [Complete Guid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5" name="Google Shape;105;p14" descr="How to Build an Online Food Ordering System [Complete Guide]"/>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08" name="Google Shape;108;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fld>
            <a:endParaRPr>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rot="10800000" flipV="1">
            <a:off x="925286" y="3336950"/>
            <a:ext cx="10496129"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 Box 2"/>
          <p:cNvSpPr txBox="1"/>
          <p:nvPr/>
        </p:nvSpPr>
        <p:spPr>
          <a:xfrm>
            <a:off x="786765" y="2362835"/>
            <a:ext cx="10904855" cy="3771265"/>
          </a:xfrm>
          <a:prstGeom prst="rect">
            <a:avLst/>
          </a:prstGeom>
        </p:spPr>
        <p:txBody>
          <a:bodyPr>
            <a:noAutofit/>
          </a:bodyPr>
          <a:p>
            <a:pPr marL="285750" indent="-285750">
              <a:buFont typeface="Wingdings" panose="05000000000000000000" charset="0"/>
              <a:buChar char="Ø"/>
            </a:pPr>
            <a:r>
              <a:rPr lang="en-US" altLang="zh-CN" sz="1600">
                <a:latin typeface="Times New Roman" panose="02020603050405020304" pitchFamily="18" charset="0"/>
                <a:cs typeface="Times New Roman" panose="02020603050405020304" pitchFamily="18" charset="0"/>
              </a:rPr>
              <a:t>Micro-retail stores require fast, accurate and accessible billing systems, but conventional POS applications depend heavily on manual product search, keyboard input and touchscreen interaction. This creates difficulties when retailers handle multiple transactions simultaneously or interact using regional languages and informal speech.</a:t>
            </a:r>
            <a:br>
              <a:rPr lang="en-US" altLang="zh-CN" sz="1600">
                <a:latin typeface="Times New Roman" panose="02020603050405020304" pitchFamily="18" charset="0"/>
                <a:cs typeface="Times New Roman" panose="02020603050405020304" pitchFamily="18" charset="0"/>
              </a:rPr>
            </a:br>
            <a:br>
              <a:rPr lang="en-US" altLang="zh-CN" sz="1600">
                <a:latin typeface="Times New Roman" panose="02020603050405020304" pitchFamily="18" charset="0"/>
                <a:cs typeface="Times New Roman" panose="02020603050405020304" pitchFamily="18" charset="0"/>
              </a:rPr>
            </a:br>
            <a:r>
              <a:rPr lang="en-US" altLang="en-US" sz="1600">
                <a:latin typeface="Times New Roman" panose="02020603050405020304" pitchFamily="18" charset="0"/>
                <a:cs typeface="Times New Roman" panose="02020603050405020304" pitchFamily="18" charset="0"/>
              </a:rPr>
              <a:t>The proposed system is a multilingual voice-enabled billing platform that allows retailers to perform billing operations using natural spoken commands in multiple languages. The system combines Automatic Speech Recognition (ASR), multilingual Natural Language Processing, language identification, intent classification, Named Entity Recognition (NER), semantic product matching, contextual dialogue management and natural-language generation.</a:t>
            </a:r>
            <a:endParaRPr lang="en-US" altLang="en-US" sz="16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endParaRPr lang="en-US" altLang="en-US" sz="16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r>
              <a:rPr lang="en-US" altLang="en-US" sz="1600">
                <a:latin typeface="Times New Roman" panose="02020603050405020304" pitchFamily="18" charset="0"/>
                <a:cs typeface="Times New Roman" panose="02020603050405020304" pitchFamily="18" charset="0"/>
              </a:rPr>
              <a:t>The proposed system extends NLP beyond billing by enabling multilingual inventory queries, natural-language transaction corrections, invoice interaction and sales analytics, providing an intelligent conversational assistant specifically designed for micro-retail environments.</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5"/>
          <p:cNvSpPr txBox="1">
            <a:spLocks noGrp="1"/>
          </p:cNvSpPr>
          <p:nvPr>
            <p:ph type="title"/>
          </p:nvPr>
        </p:nvSpPr>
        <p:spPr>
          <a:xfrm>
            <a:off x="1743958" y="274638"/>
            <a:ext cx="8550111"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INTRODUCTION</a:t>
            </a:r>
            <a:endPar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15" name="Google Shape;115;p15"/>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16" name="Google Shape;116;p15"/>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118" name="Google Shape;118;p15" descr="How to Build an Online Food Ordering System [Complete Guid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9" name="Google Shape;119;p15" descr="How to Build an Online Food Ordering System [Complete Guide]"/>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117" name="Google Shape;117;p15" descr="How to Build an Online Food Ordering System [Complete Guide]"/>
          <p:cNvSpPr/>
          <p:nvPr/>
        </p:nvSpPr>
        <p:spPr>
          <a:xfrm>
            <a:off x="6892414" y="2133600"/>
            <a:ext cx="5034116" cy="321514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4" name="Rectangle 1"/>
          <p:cNvSpPr>
            <a:spLocks noChangeArrowheads="1"/>
          </p:cNvSpPr>
          <p:nvPr/>
        </p:nvSpPr>
        <p:spPr bwMode="auto">
          <a:xfrm rot="10800000" flipV="1">
            <a:off x="870857" y="3479652"/>
            <a:ext cx="10607493" cy="553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lnSpc>
                <a:spcPct val="150000"/>
              </a:lnSpc>
              <a:spcBef>
                <a:spcPct val="0"/>
              </a:spcBef>
              <a:spcAft>
                <a:spcPct val="0"/>
              </a:spcAft>
              <a:buClrTx/>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 Box 1"/>
          <p:cNvSpPr txBox="1"/>
          <p:nvPr/>
        </p:nvSpPr>
        <p:spPr>
          <a:xfrm>
            <a:off x="1058545" y="1719580"/>
            <a:ext cx="9456420" cy="4481830"/>
          </a:xfrm>
          <a:prstGeom prst="rect">
            <a:avLst/>
          </a:prstGeom>
        </p:spPr>
        <p:txBody>
          <a:bodyPr>
            <a:noAutofit/>
          </a:bodyPr>
          <a:p>
            <a:r>
              <a:rPr lang="en-US" altLang="zh-CN" sz="1600">
                <a:latin typeface="Times New Roman" panose="02020603050405020304" pitchFamily="18" charset="0"/>
                <a:cs typeface="Times New Roman" panose="02020603050405020304" pitchFamily="18" charset="0"/>
              </a:rPr>
              <a:t>Micro-retail stores require quick and low-complexity billing operations.</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 Conventional POS systems primarily depend on manual interaction. </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 Retailers may naturally communicate using regional languages, English or code-mixed language. </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 Product names may be spoken using abbreviations, colloquial terms or pronunciation variations. </a:t>
            </a:r>
            <a:endParaRPr lang="en-US" altLang="zh-CN" sz="1600">
              <a:latin typeface="Times New Roman" panose="02020603050405020304" pitchFamily="18" charset="0"/>
              <a:cs typeface="Times New Roman" panose="02020603050405020304" pitchFamily="18" charset="0"/>
            </a:endParaRPr>
          </a:p>
          <a:p>
            <a:r>
              <a:rPr lang="en-US" altLang="zh-CN" sz="1600">
                <a:latin typeface="Times New Roman" panose="02020603050405020304" pitchFamily="18" charset="0"/>
                <a:cs typeface="Times New Roman" panose="02020603050405020304" pitchFamily="18" charset="0"/>
              </a:rPr>
              <a:t> A simple speech-to-text system cannot understand the meaning and intent of retail commands.</a:t>
            </a:r>
            <a:endParaRPr lang="en-US" altLang="zh-CN" sz="1600">
              <a:latin typeface="Times New Roman" panose="02020603050405020304" pitchFamily="18" charset="0"/>
              <a:cs typeface="Times New Roman" panose="02020603050405020304" pitchFamily="18" charset="0"/>
            </a:endParaRPr>
          </a:p>
          <a:p>
            <a:endParaRPr lang="en-US" altLang="zh-CN"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Retailer Speech</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Language Identification</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Multilingual Speech Recognition</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NLP / NLU</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Intent + Entity Extraction</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Context &amp; Semantic Resolution</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Billing / Inventory / Analytics</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      ↓</a:t>
            </a:r>
            <a:endParaRPr lang="en-US" altLang="en-US" sz="1600">
              <a:latin typeface="Times New Roman" panose="02020603050405020304" pitchFamily="18" charset="0"/>
              <a:cs typeface="Times New Roman" panose="02020603050405020304" pitchFamily="18" charset="0"/>
            </a:endParaRPr>
          </a:p>
          <a:p>
            <a:r>
              <a:rPr lang="en-US" altLang="en-US" sz="1600">
                <a:latin typeface="Times New Roman" panose="02020603050405020304" pitchFamily="18" charset="0"/>
                <a:cs typeface="Times New Roman" panose="02020603050405020304" pitchFamily="18" charset="0"/>
              </a:rPr>
              <a:t>Natural-Language Response</a:t>
            </a:r>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OBJECTIVES</a:t>
            </a:r>
            <a:endPar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28" name="Google Shape;128;p16"/>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29" name="Google Shape;129;p16"/>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132" name="Google Shape;132;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fld>
            <a:endParaRPr>
              <a:latin typeface="Times New Roman" panose="02020603050405020304" pitchFamily="18" charset="0"/>
              <a:cs typeface="Times New Roman" panose="02020603050405020304" pitchFamily="18" charset="0"/>
            </a:endParaRPr>
          </a:p>
        </p:txBody>
      </p:sp>
      <p:sp>
        <p:nvSpPr>
          <p:cNvPr id="4" name="TextBox 3"/>
          <p:cNvSpPr txBox="1"/>
          <p:nvPr/>
        </p:nvSpPr>
        <p:spPr>
          <a:xfrm>
            <a:off x="8988552" y="2898649"/>
            <a:ext cx="521208" cy="215444"/>
          </a:xfrm>
          <a:prstGeom prst="rect">
            <a:avLst/>
          </a:prstGeom>
          <a:solidFill>
            <a:schemeClr val="bg1"/>
          </a:solidFill>
        </p:spPr>
        <p:txBody>
          <a:bodyPr wrap="square" rtlCol="0">
            <a:spAutoFit/>
          </a:bodyPr>
          <a:lstStyle/>
          <a:p>
            <a:endParaRPr lang="en-US" sz="8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220459" y="3291332"/>
            <a:ext cx="10361941"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l" defTabSz="914400" rtl="0" eaLnBrk="0" fontAlgn="base" latinLnBrk="0" hangingPunct="0">
              <a:lnSpc>
                <a:spcPct val="150000"/>
              </a:lnSpc>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multilingual NLP-based voice billing system that understands natural spoken retail commands and converts them into accurate, context-aware billing transactions.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PROBLEM STATEMENT</a:t>
            </a:r>
            <a:endParaRPr lang="en-US" sz="32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127" name="Google Shape;127;p16"/>
          <p:cNvSpPr txBox="1">
            <a:spLocks noGrp="1"/>
          </p:cNvSpPr>
          <p:nvPr>
            <p:ph type="body" idx="1"/>
          </p:nvPr>
        </p:nvSpPr>
        <p:spPr>
          <a:xfrm>
            <a:off x="685801" y="1534976"/>
            <a:ext cx="10767930" cy="4165452"/>
          </a:xfrm>
          <a:prstGeom prst="rect">
            <a:avLst/>
          </a:prstGeom>
          <a:noFill/>
          <a:ln>
            <a:noFill/>
          </a:ln>
        </p:spPr>
        <p:txBody>
          <a:bodyPr spcFirstLastPara="1" wrap="square" lIns="91425" tIns="45700" rIns="91425" bIns="45700" anchor="t" anchorCtr="0">
            <a:noAutofit/>
          </a:bodyPr>
          <a:lstStyle/>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Traditional billing systems create several limitations: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Heavy dependence on keyboard/touchscreen input.</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Manual product searching increases transaction time.</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Most systems are designed around English-centric interfaces.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Regional-language speech is difficult to process.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Code-mixed speech is common in real-world retail environments.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Product names may have multiple spoken variations.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Speech-to-text alone does not understand transaction intent.</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Ambiguous commands may result in incorrect product selection.</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just">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Sales and inventory information generally requires navigating dashboards.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28" name="Google Shape;128;p16"/>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29" name="Google Shape;129;p16"/>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132" name="Google Shape;132;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latin typeface="Times New Roman" panose="02020603050405020304" pitchFamily="18" charset="0"/>
                <a:cs typeface="Times New Roman" panose="02020603050405020304" pitchFamily="18" charset="0"/>
              </a:rPr>
            </a:fld>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System Architecture</a:t>
            </a:r>
            <a:endParaRPr lang="en-US"/>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128" name="Google Shape;128;p16"/>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29" name="Google Shape;129;p16"/>
          <p:cNvPicPr preferRelativeResize="0"/>
          <p:nvPr/>
        </p:nvPicPr>
        <p:blipFill rotWithShape="1">
          <a:blip r:embed="rId2"/>
          <a:srcRect/>
          <a:stretch>
            <a:fillRect/>
          </a:stretch>
        </p:blipFill>
        <p:spPr>
          <a:xfrm>
            <a:off x="10514231" y="191626"/>
            <a:ext cx="1520114" cy="1342884"/>
          </a:xfrm>
          <a:prstGeom prst="rect">
            <a:avLst/>
          </a:prstGeom>
          <a:noFill/>
          <a:ln>
            <a:noFill/>
          </a:ln>
        </p:spPr>
      </p:pic>
      <p:pic>
        <p:nvPicPr>
          <p:cNvPr id="6" name="Picture 5" descr="nlp1"/>
          <p:cNvPicPr>
            <a:picLocks noChangeAspect="1"/>
          </p:cNvPicPr>
          <p:nvPr/>
        </p:nvPicPr>
        <p:blipFill>
          <a:blip r:embed="rId3"/>
          <a:srcRect t="4517"/>
          <a:stretch>
            <a:fillRect/>
          </a:stretch>
        </p:blipFill>
        <p:spPr>
          <a:xfrm>
            <a:off x="2087880" y="1417955"/>
            <a:ext cx="8163560" cy="51962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Modules</a:t>
            </a:r>
            <a:endParaRPr lang="en-US"/>
          </a:p>
        </p:txBody>
      </p:sp>
      <p:sp>
        <p:nvSpPr>
          <p:cNvPr id="3" name="Text Placeholder 2"/>
          <p:cNvSpPr>
            <a:spLocks noGrp="1"/>
          </p:cNvSpPr>
          <p:nvPr>
            <p:ph type="body" idx="1"/>
          </p:nvPr>
        </p:nvSpPr>
        <p:spPr/>
        <p:txBody>
          <a:bodyPr>
            <a:normAutofit lnSpcReduction="20000"/>
          </a:bodyPr>
          <a:p>
            <a:pPr marL="114300" indent="0">
              <a:buNone/>
            </a:pPr>
            <a:r>
              <a:rPr lang="en-US" altLang="en-US">
                <a:latin typeface="Times New Roman" panose="02020603050405020304" pitchFamily="18" charset="0"/>
                <a:cs typeface="Times New Roman" panose="02020603050405020304" pitchFamily="18" charset="0"/>
              </a:rPr>
              <a:t>Module 1</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Multilingual Voice &amp; Intent Understanding</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Module 2</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Multilingual Product &amp; Entity Resolution</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Module 3</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Context-Aware Billing &amp; Transaction Reasoning</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Module 4</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Multilingual Conversational Invoice &amp; Correction Assistant</a:t>
            </a:r>
            <a:endParaRPr lang="en-US" altLang="en-US">
              <a:latin typeface="Times New Roman" panose="02020603050405020304" pitchFamily="18" charset="0"/>
              <a:cs typeface="Times New Roman" panose="02020603050405020304" pitchFamily="18" charset="0"/>
            </a:endParaRPr>
          </a:p>
          <a:p>
            <a:pPr marL="114300" indent="0">
              <a:buNone/>
            </a:pPr>
            <a:r>
              <a:rPr lang="en-US" altLang="en-US">
                <a:latin typeface="Times New Roman" panose="02020603050405020304" pitchFamily="18" charset="0"/>
                <a:cs typeface="Times New Roman" panose="02020603050405020304" pitchFamily="18" charset="0"/>
              </a:rPr>
              <a:t>Module 5</a:t>
            </a:r>
            <a:br>
              <a:rPr lang="en-US" altLang="en-US">
                <a:latin typeface="Times New Roman" panose="02020603050405020304" pitchFamily="18" charset="0"/>
                <a:cs typeface="Times New Roman" panose="02020603050405020304" pitchFamily="18" charset="0"/>
              </a:rPr>
            </a:br>
            <a:r>
              <a:rPr lang="en-US" altLang="en-US">
                <a:latin typeface="Times New Roman" panose="02020603050405020304" pitchFamily="18" charset="0"/>
                <a:cs typeface="Times New Roman" panose="02020603050405020304" pitchFamily="18" charset="0"/>
              </a:rPr>
              <a:t>Natural-Language Retail Analytics &amp; Decision Intelligence</a:t>
            </a:r>
            <a:endParaRPr lang="en-US" alt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128" name="Google Shape;128;p16"/>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29" name="Google Shape;129;p16"/>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8"/>
          <p:cNvSpPr txBox="1">
            <a:spLocks noGrp="1"/>
          </p:cNvSpPr>
          <p:nvPr>
            <p:ph type="title"/>
          </p:nvPr>
        </p:nvSpPr>
        <p:spPr>
          <a:xfrm>
            <a:off x="2956232" y="391510"/>
            <a:ext cx="6279535" cy="1143000"/>
          </a:xfrm>
          <a:prstGeom prst="rect">
            <a:avLst/>
          </a:prstGeom>
          <a:noFill/>
          <a:ln>
            <a:noFill/>
          </a:ln>
        </p:spPr>
        <p:txBody>
          <a:bodyPr spcFirstLastPara="1" wrap="square" lIns="91425" tIns="45700" rIns="91425" bIns="45700" anchor="ctr" anchorCtr="0">
            <a:noAutofit/>
          </a:bodyPr>
          <a:lstStyle/>
          <a:p>
            <a:pPr lvl="0">
              <a:buSzPts val="3600"/>
            </a:pPr>
            <a: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MODULE – 1</a:t>
            </a:r>
            <a:b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br>
            <a:r>
              <a:rPr lang="en-US" sz="2900" b="1" dirty="0">
                <a:latin typeface="Times New Roman" panose="02020603050405020304" pitchFamily="18" charset="0"/>
                <a:cs typeface="Times New Roman" panose="02020603050405020304" pitchFamily="18" charset="0"/>
              </a:rPr>
              <a:t> </a:t>
            </a:r>
            <a:r>
              <a:rPr lang="en-US" altLang="en-US" sz="2900" b="1" dirty="0">
                <a:latin typeface="Times New Roman" panose="02020603050405020304" pitchFamily="18" charset="0"/>
                <a:cs typeface="Times New Roman" panose="02020603050405020304" pitchFamily="18" charset="0"/>
              </a:rPr>
              <a:t>Multilingual Voice &amp; Intent Understanding</a:t>
            </a:r>
            <a:endParaRPr lang="en-US" altLang="en-US" sz="2900" b="1" dirty="0">
              <a:latin typeface="Times New Roman" panose="02020603050405020304" pitchFamily="18" charset="0"/>
              <a:cs typeface="Times New Roman" panose="02020603050405020304" pitchFamily="18" charset="0"/>
            </a:endParaRPr>
          </a:p>
        </p:txBody>
      </p:sp>
      <p:sp>
        <p:nvSpPr>
          <p:cNvPr id="149" name="Google Shape;149;p18"/>
          <p:cNvSpPr txBox="1">
            <a:spLocks noGrp="1"/>
          </p:cNvSpPr>
          <p:nvPr>
            <p:ph type="body" idx="1"/>
          </p:nvPr>
        </p:nvSpPr>
        <p:spPr>
          <a:xfrm>
            <a:off x="130629" y="2012950"/>
            <a:ext cx="11375571" cy="4525963"/>
          </a:xfrm>
          <a:prstGeom prst="rect">
            <a:avLst/>
          </a:prstGeom>
          <a:noFill/>
          <a:ln>
            <a:noFill/>
          </a:ln>
        </p:spPr>
        <p:txBody>
          <a:bodyPr spcFirstLastPara="1" wrap="square" lIns="91425" tIns="45700" rIns="91425" bIns="45700" anchor="t" anchorCtr="0">
            <a:normAutofit/>
          </a:bodyPr>
          <a:lstStyle/>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Accepts voice input in multiple languages and code-mixed speech.</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Performs Automatic Speech Recognition (ASR) to convert speech into text.</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Identifies the spoken language automatically.</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Normalizes regional, colloquial and informal expressions.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Uses NLP-based intent classification to identify the requested action.</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Supports multiple intents within a single voice command.</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Recognizes billing actions such as add, remove, modify, search, return and checkout.</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80695" lvl="0" algn="just">
              <a:lnSpc>
                <a:spcPct val="150000"/>
              </a:lnSpc>
              <a:spcBef>
                <a:spcPts val="435"/>
              </a:spcBef>
              <a:buSzPct val="1000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Converts natural speech into a structured retail command.</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53" name="Google Shape;153;p18"/>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54" name="Google Shape;154;p18"/>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8"/>
          <p:cNvSpPr txBox="1">
            <a:spLocks noGrp="1"/>
          </p:cNvSpPr>
          <p:nvPr>
            <p:ph type="title"/>
          </p:nvPr>
        </p:nvSpPr>
        <p:spPr>
          <a:xfrm>
            <a:off x="2956232" y="291568"/>
            <a:ext cx="6279535" cy="1143000"/>
          </a:xfrm>
          <a:prstGeom prst="rect">
            <a:avLst/>
          </a:prstGeom>
          <a:noFill/>
          <a:ln>
            <a:noFill/>
          </a:ln>
        </p:spPr>
        <p:txBody>
          <a:bodyPr spcFirstLastPara="1" wrap="square" lIns="91425" tIns="45700" rIns="91425" bIns="45700" anchor="ctr" anchorCtr="0">
            <a:normAutofit fontScale="90000"/>
          </a:bodyPr>
          <a:lstStyle/>
          <a:p>
            <a:pPr lvl="0">
              <a:buSzPts val="3600"/>
            </a:pPr>
            <a: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MODULE – 2</a:t>
            </a:r>
            <a:b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br>
            <a:r>
              <a:rPr lang="en-US" alt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Multilingual Product &amp; Entity Resolution</a:t>
            </a:r>
            <a:endParaRPr lang="en-US" alt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53" name="Google Shape;153;p18"/>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54" name="Google Shape;154;p18"/>
          <p:cNvPicPr preferRelativeResize="0"/>
          <p:nvPr/>
        </p:nvPicPr>
        <p:blipFill rotWithShape="1">
          <a:blip r:embed="rId2"/>
          <a:srcRect/>
          <a:stretch>
            <a:fillRect/>
          </a:stretch>
        </p:blipFill>
        <p:spPr>
          <a:xfrm>
            <a:off x="10514231" y="191626"/>
            <a:ext cx="1520114" cy="1342884"/>
          </a:xfrm>
          <a:prstGeom prst="rect">
            <a:avLst/>
          </a:prstGeom>
          <a:noFill/>
          <a:ln>
            <a:noFill/>
          </a:ln>
        </p:spPr>
      </p:pic>
      <p:sp>
        <p:nvSpPr>
          <p:cNvPr id="2" name="Text Box 1"/>
          <p:cNvSpPr txBox="1"/>
          <p:nvPr/>
        </p:nvSpPr>
        <p:spPr>
          <a:xfrm>
            <a:off x="4185285" y="2696210"/>
            <a:ext cx="3549015" cy="2602865"/>
          </a:xfrm>
          <a:prstGeom prst="rect">
            <a:avLst/>
          </a:prstGeom>
          <a:noFill/>
        </p:spPr>
        <p:txBody>
          <a:bodyPr wrap="square" rtlCol="0">
            <a:noAutofit/>
          </a:bodyPr>
          <a:p>
            <a:endParaRPr lang="en-US" altLang="en-US"/>
          </a:p>
        </p:txBody>
      </p:sp>
      <p:sp>
        <p:nvSpPr>
          <p:cNvPr id="4" name="Text Box 3"/>
          <p:cNvSpPr txBox="1"/>
          <p:nvPr/>
        </p:nvSpPr>
        <p:spPr>
          <a:xfrm>
            <a:off x="1114425" y="1993265"/>
            <a:ext cx="8675370" cy="3794125"/>
          </a:xfrm>
          <a:prstGeom prst="rect">
            <a:avLst/>
          </a:prstGeom>
        </p:spPr>
        <p:txBody>
          <a:bodyPr wrap="square">
            <a:noAutofit/>
          </a:bodyPr>
          <a:p>
            <a:pPr marL="285750" indent="-285750">
              <a:lnSpc>
                <a:spcPct val="150000"/>
              </a:lnSpc>
              <a:buFont typeface="Wingdings" panose="05000000000000000000" charset="0"/>
              <a:buChar char="Ø"/>
            </a:pPr>
            <a:r>
              <a:rPr lang="en-US" altLang="zh-CN" sz="1600"/>
              <a:t>Extracts product names, brands, quantities, units and product attributes using NER.</a:t>
            </a:r>
            <a:endParaRPr lang="en-US" altLang="zh-CN" sz="1600"/>
          </a:p>
          <a:p>
            <a:pPr marL="285750" indent="-285750">
              <a:lnSpc>
                <a:spcPct val="150000"/>
              </a:lnSpc>
              <a:buFont typeface="Wingdings" panose="05000000000000000000" charset="0"/>
              <a:buChar char="Ø"/>
            </a:pPr>
            <a:r>
              <a:rPr lang="en-US" altLang="zh-CN" sz="1600"/>
              <a:t> Handles product names spoken in different languages and transliterated forms. </a:t>
            </a:r>
            <a:endParaRPr lang="en-US" altLang="zh-CN" sz="1600"/>
          </a:p>
          <a:p>
            <a:pPr marL="285750" indent="-285750">
              <a:lnSpc>
                <a:spcPct val="150000"/>
              </a:lnSpc>
              <a:buFont typeface="Wingdings" panose="05000000000000000000" charset="0"/>
              <a:buChar char="Ø"/>
            </a:pPr>
            <a:r>
              <a:rPr lang="en-US" altLang="zh-CN" sz="1600"/>
              <a:t> Supports synonyms, abbreviations and colloquial product references. </a:t>
            </a:r>
            <a:endParaRPr lang="en-US" altLang="zh-CN" sz="1600"/>
          </a:p>
          <a:p>
            <a:pPr marL="285750" indent="-285750">
              <a:lnSpc>
                <a:spcPct val="150000"/>
              </a:lnSpc>
              <a:buFont typeface="Wingdings" panose="05000000000000000000" charset="0"/>
              <a:buChar char="Ø"/>
            </a:pPr>
            <a:r>
              <a:rPr lang="en-US" altLang="zh-CN" sz="1600"/>
              <a:t> Uses semantic similarity and embeddings to match spoken products with database SKUs. </a:t>
            </a:r>
            <a:endParaRPr lang="en-US" altLang="zh-CN" sz="1600"/>
          </a:p>
          <a:p>
            <a:pPr marL="285750" indent="-285750">
              <a:lnSpc>
                <a:spcPct val="150000"/>
              </a:lnSpc>
              <a:buFont typeface="Wingdings" panose="05000000000000000000" charset="0"/>
              <a:buChar char="Ø"/>
            </a:pPr>
            <a:r>
              <a:rPr lang="en-US" altLang="zh-CN" sz="1600"/>
              <a:t> Resolves ambiguous product names using context and product attributes. </a:t>
            </a:r>
            <a:endParaRPr lang="en-US" altLang="zh-CN" sz="1600"/>
          </a:p>
          <a:p>
            <a:pPr marL="285750" indent="-285750">
              <a:lnSpc>
                <a:spcPct val="150000"/>
              </a:lnSpc>
              <a:buFont typeface="Wingdings" panose="05000000000000000000" charset="0"/>
              <a:buChar char="Ø"/>
            </a:pPr>
            <a:r>
              <a:rPr lang="en-US" altLang="zh-CN" sz="1600"/>
              <a:t> Handles incomplete product references from follow-up commands. </a:t>
            </a:r>
            <a:endParaRPr lang="en-US" altLang="zh-CN" sz="1600"/>
          </a:p>
          <a:p>
            <a:pPr marL="285750" indent="-285750">
              <a:lnSpc>
                <a:spcPct val="150000"/>
              </a:lnSpc>
              <a:buFont typeface="Wingdings" panose="05000000000000000000" charset="0"/>
              <a:buChar char="Ø"/>
            </a:pPr>
            <a:r>
              <a:rPr lang="en-US" altLang="zh-CN" sz="1600"/>
              <a:t> Maps multilingual expressions to a standard product representation. </a:t>
            </a:r>
            <a:endParaRPr lang="en-US" altLang="zh-CN" sz="1600"/>
          </a:p>
          <a:p>
            <a:pPr marL="285750" indent="-285750">
              <a:lnSpc>
                <a:spcPct val="150000"/>
              </a:lnSpc>
              <a:buFont typeface="Wingdings" panose="05000000000000000000" charset="0"/>
              <a:buChar char="Ø"/>
            </a:pPr>
            <a:r>
              <a:rPr lang="en-US" altLang="zh-CN" sz="1600"/>
              <a:t> Reduces incorrect product selection during voice-based billing.</a:t>
            </a:r>
            <a:endParaRPr lang="en-US" altLang="zh-CN"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8"/>
          <p:cNvSpPr txBox="1">
            <a:spLocks noGrp="1"/>
          </p:cNvSpPr>
          <p:nvPr>
            <p:ph type="title"/>
          </p:nvPr>
        </p:nvSpPr>
        <p:spPr>
          <a:xfrm>
            <a:off x="2542540" y="391795"/>
            <a:ext cx="7313295" cy="1143000"/>
          </a:xfrm>
          <a:prstGeom prst="rect">
            <a:avLst/>
          </a:prstGeom>
          <a:noFill/>
          <a:ln>
            <a:noFill/>
          </a:ln>
        </p:spPr>
        <p:txBody>
          <a:bodyPr spcFirstLastPara="1" wrap="square" lIns="91425" tIns="45700" rIns="91425" bIns="45700" anchor="ctr" anchorCtr="0">
            <a:noAutofit/>
          </a:bodyPr>
          <a:lstStyle/>
          <a:p>
            <a:pPr lvl="0">
              <a:buSzPts val="3600"/>
            </a:pPr>
            <a: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MODULE – 3</a:t>
            </a:r>
            <a:b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br>
            <a:r>
              <a:rPr lang="en-US" sz="2900" b="1" dirty="0">
                <a:latin typeface="Times New Roman" panose="02020603050405020304" pitchFamily="18" charset="0"/>
                <a:cs typeface="Times New Roman" panose="02020603050405020304" pitchFamily="18" charset="0"/>
              </a:rPr>
              <a:t> </a:t>
            </a:r>
            <a:r>
              <a:rPr lang="en-US" altLang="en-US" sz="2900" b="1" dirty="0">
                <a:latin typeface="Times New Roman" panose="02020603050405020304" pitchFamily="18" charset="0"/>
                <a:cs typeface="Times New Roman" panose="02020603050405020304" pitchFamily="18" charset="0"/>
              </a:rPr>
              <a:t>Context-Aware Billing &amp; Transaction Reasoning</a:t>
            </a:r>
            <a:endParaRPr lang="en-US" altLang="en-US" sz="2900" b="1" dirty="0">
              <a:latin typeface="Times New Roman" panose="02020603050405020304" pitchFamily="18" charset="0"/>
              <a:cs typeface="Times New Roman" panose="02020603050405020304" pitchFamily="18" charset="0"/>
            </a:endParaRPr>
          </a:p>
        </p:txBody>
      </p:sp>
      <p:sp>
        <p:nvSpPr>
          <p:cNvPr id="149" name="Google Shape;149;p18"/>
          <p:cNvSpPr txBox="1">
            <a:spLocks noGrp="1"/>
          </p:cNvSpPr>
          <p:nvPr>
            <p:ph type="body" idx="1"/>
          </p:nvPr>
        </p:nvSpPr>
        <p:spPr>
          <a:xfrm>
            <a:off x="992406" y="1880696"/>
            <a:ext cx="9363075" cy="4525963"/>
          </a:xfrm>
          <a:prstGeom prst="rect">
            <a:avLst/>
          </a:prstGeom>
          <a:noFill/>
          <a:ln>
            <a:noFill/>
          </a:ln>
        </p:spPr>
        <p:txBody>
          <a:bodyPr spcFirstLastPara="1" wrap="square" lIns="91425" tIns="45700" rIns="91425" bIns="45700" anchor="t" anchorCtr="0">
            <a:normAutofit/>
          </a:bodyPr>
          <a:lstStyle/>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Converts NLP outputs into real-time billing operations.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Maintains conversation context across multiple voice commands.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Uses coreference resolution for expressions such as “make it five” or “remove that item.”</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Interprets natural-language quantity and unit modifications.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Processes multi-item and sequential billing commands.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Integrates product price, tax, discount and inventory information.</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Validates transactions before updating the bill.</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nSpc>
                <a:spcPct val="150000"/>
              </a:lnSpc>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Supports natural-language addition, deletion, modification and cancellation of items.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53" name="Google Shape;153;p18"/>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54" name="Google Shape;154;p18"/>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8"/>
          <p:cNvSpPr txBox="1">
            <a:spLocks noGrp="1"/>
          </p:cNvSpPr>
          <p:nvPr>
            <p:ph type="title"/>
          </p:nvPr>
        </p:nvSpPr>
        <p:spPr>
          <a:xfrm>
            <a:off x="2956232" y="391510"/>
            <a:ext cx="6279535" cy="1143000"/>
          </a:xfrm>
          <a:prstGeom prst="rect">
            <a:avLst/>
          </a:prstGeom>
          <a:noFill/>
          <a:ln>
            <a:noFill/>
          </a:ln>
        </p:spPr>
        <p:txBody>
          <a:bodyPr spcFirstLastPara="1" wrap="square" lIns="91425" tIns="45700" rIns="91425" bIns="45700" anchor="ctr" anchorCtr="0">
            <a:noAutofit/>
          </a:bodyPr>
          <a:lstStyle/>
          <a:p>
            <a:pPr lvl="0">
              <a:buSzPts val="3600"/>
            </a:pPr>
            <a: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MODULE – 4</a:t>
            </a:r>
            <a:br>
              <a:rPr lang="en-US" sz="29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br>
            <a:r>
              <a:rPr lang="en-US" sz="2900" b="1" dirty="0">
                <a:latin typeface="Times New Roman" panose="02020603050405020304" pitchFamily="18" charset="0"/>
                <a:cs typeface="Times New Roman" panose="02020603050405020304" pitchFamily="18" charset="0"/>
              </a:rPr>
              <a:t> </a:t>
            </a:r>
            <a:r>
              <a:rPr lang="en-US" altLang="en-US" sz="2900" b="1" dirty="0">
                <a:latin typeface="Times New Roman" panose="02020603050405020304" pitchFamily="18" charset="0"/>
                <a:cs typeface="Times New Roman" panose="02020603050405020304" pitchFamily="18" charset="0"/>
              </a:rPr>
              <a:t>Multilingual Conversational Invoice &amp; Correction Assistant</a:t>
            </a:r>
            <a:endParaRPr lang="en-US" altLang="en-US" sz="2900" b="1" dirty="0">
              <a:latin typeface="Times New Roman" panose="02020603050405020304" pitchFamily="18" charset="0"/>
              <a:cs typeface="Times New Roman" panose="02020603050405020304" pitchFamily="18" charset="0"/>
            </a:endParaRPr>
          </a:p>
        </p:txBody>
      </p:sp>
      <p:sp>
        <p:nvSpPr>
          <p:cNvPr id="149" name="Google Shape;149;p18"/>
          <p:cNvSpPr txBox="1">
            <a:spLocks noGrp="1"/>
          </p:cNvSpPr>
          <p:nvPr>
            <p:ph type="body" idx="1"/>
          </p:nvPr>
        </p:nvSpPr>
        <p:spPr>
          <a:xfrm>
            <a:off x="809625" y="2140411"/>
            <a:ext cx="9363075" cy="4525963"/>
          </a:xfrm>
          <a:prstGeom prst="rect">
            <a:avLst/>
          </a:prstGeom>
          <a:noFill/>
          <a:ln>
            <a:noFill/>
          </a:ln>
        </p:spPr>
        <p:txBody>
          <a:bodyPr spcFirstLastPara="1" wrap="square" lIns="91425" tIns="45700" rIns="91425" bIns="45700" anchor="t" anchorCtr="0">
            <a:normAutofit lnSpcReduction="10000"/>
          </a:bodyPr>
          <a:lstStyle/>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Provides two-way voice interaction between retailer and billing system.</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Allows retailers to query the current bill using natural language.</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Supports multilingual invoice summarization and confirmation.</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Detects and executes conversational billing corrections.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Maintains context for follow-up statements and corrections.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Supports queries such as bill total, item quantity, price and invoice status.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Generates responses in the retailer's preferred language.</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Uses Text-to-Speech (TTS) for voice-based responses.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lvl="0" algn="just">
              <a:lnSpc>
                <a:spcPct val="150000"/>
              </a:lnSpc>
              <a:buFont typeface="Wingdings" panose="05000000000000000000" pitchFamily="2" charset="2"/>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Enables conversational interaction throughout the invoice and checkout process.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153" name="Google Shape;153;p18"/>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154" name="Google Shape;154;p18"/>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5"/>
          <p:cNvSpPr txBox="1">
            <a:spLocks noGrp="1"/>
          </p:cNvSpPr>
          <p:nvPr>
            <p:ph type="title"/>
          </p:nvPr>
        </p:nvSpPr>
        <p:spPr>
          <a:xfrm>
            <a:off x="1800520" y="274638"/>
            <a:ext cx="8169116" cy="1143000"/>
          </a:xfrm>
          <a:prstGeom prst="rect">
            <a:avLst/>
          </a:prstGeom>
          <a:noFill/>
          <a:ln>
            <a:noFill/>
          </a:ln>
        </p:spPr>
        <p:txBody>
          <a:bodyPr spcFirstLastPara="1" wrap="square" lIns="91425" tIns="45700" rIns="91425" bIns="45700" anchor="ctr" anchorCtr="0">
            <a:normAutofit/>
          </a:bodyPr>
          <a:lstStyle/>
          <a:p>
            <a:pPr lvl="0">
              <a:buSzPts val="4000"/>
            </a:pPr>
            <a:r>
              <a:rPr lang="en-US" sz="3200" b="1" dirty="0">
                <a:latin typeface="Times New Roman" panose="02020603050405020304"/>
                <a:ea typeface="Times New Roman" panose="02020603050405020304"/>
                <a:cs typeface="Times New Roman" panose="02020603050405020304"/>
                <a:sym typeface="Times New Roman" panose="02020603050405020304"/>
              </a:rPr>
              <a:t>Module 5-</a:t>
            </a:r>
            <a:r>
              <a:rPr lang="en-US" altLang="en-US" sz="3200" b="1" dirty="0">
                <a:latin typeface="Times New Roman" panose="02020603050405020304"/>
                <a:ea typeface="Times New Roman" panose="02020603050405020304"/>
                <a:cs typeface="Times New Roman" panose="02020603050405020304"/>
                <a:sym typeface="Times New Roman" panose="02020603050405020304"/>
              </a:rPr>
              <a:t>Natural-Language Retail Analytics &amp; Decision Intelligence</a:t>
            </a:r>
            <a:endParaRPr lang="en-US" altLang="en-US" sz="32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36" name="Google Shape;236;p25"/>
          <p:cNvSpPr txBox="1">
            <a:spLocks noGrp="1"/>
          </p:cNvSpPr>
          <p:nvPr>
            <p:ph type="body" idx="1"/>
          </p:nvPr>
        </p:nvSpPr>
        <p:spPr>
          <a:xfrm>
            <a:off x="627960" y="1777044"/>
            <a:ext cx="10861789" cy="3740721"/>
          </a:xfrm>
          <a:prstGeom prst="rect">
            <a:avLst/>
          </a:prstGeom>
          <a:noFill/>
          <a:ln>
            <a:noFill/>
          </a:ln>
        </p:spPr>
        <p:txBody>
          <a:bodyPr spcFirstLastPara="1" wrap="square" lIns="91425" tIns="45700" rIns="91425" bIns="45700" anchor="t" anchorCtr="0">
            <a:noAutofit/>
          </a:bodyPr>
          <a:lstStyle/>
          <a:p>
            <a:pPr marL="495300" lvl="0" algn="just">
              <a:lnSpc>
                <a:spcPct val="150000"/>
              </a:lnSpc>
              <a:spcBef>
                <a:spcPts val="480"/>
              </a:spcBef>
              <a:buSzPts val="24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Allows retailers to query sales and inventory data using natural language or voice.</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95300" lvl="0" algn="just">
              <a:lnSpc>
                <a:spcPct val="150000"/>
              </a:lnSpc>
              <a:spcBef>
                <a:spcPts val="480"/>
              </a:spcBef>
              <a:buSzPts val="24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Identifies analytics intent, metrics, products and temporal expressions.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95300" lvl="0" algn="just">
              <a:lnSpc>
                <a:spcPct val="150000"/>
              </a:lnSpc>
              <a:spcBef>
                <a:spcPts val="480"/>
              </a:spcBef>
              <a:buSzPts val="24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Converts natural-language questions into structured database queries.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lvl="0" indent="-190500" algn="just">
              <a:lnSpc>
                <a:spcPct val="150000"/>
              </a:lnSpc>
              <a:spcBef>
                <a:spcPts val="480"/>
              </a:spcBef>
              <a:buSzPts val="24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Supports queries such as: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lvl="0" indent="-190500" algn="just">
              <a:lnSpc>
                <a:spcPct val="150000"/>
              </a:lnSpc>
              <a:spcBef>
                <a:spcPts val="480"/>
              </a:spcBef>
              <a:buSzPts val="24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“What are today's total sales?”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342900" lvl="0" indent="-190500" algn="just">
              <a:lnSpc>
                <a:spcPct val="150000"/>
              </a:lnSpc>
              <a:spcBef>
                <a:spcPts val="480"/>
              </a:spcBef>
              <a:buSzPts val="2400"/>
              <a:buNone/>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“Which product sold the most this week?”</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95300" lvl="0" algn="just">
              <a:lnSpc>
                <a:spcPct val="150000"/>
              </a:lnSpc>
              <a:spcBef>
                <a:spcPts val="480"/>
              </a:spcBef>
              <a:buSzPts val="24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Performs sales trend and product-performance analysis.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95300" lvl="0" algn="just">
              <a:lnSpc>
                <a:spcPct val="150000"/>
              </a:lnSpc>
              <a:spcBef>
                <a:spcPts val="480"/>
              </a:spcBef>
              <a:buSzPts val="24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Generates concise natural-language explanations of business results.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495300" lvl="0" algn="just">
              <a:lnSpc>
                <a:spcPct val="150000"/>
              </a:lnSpc>
              <a:spcBef>
                <a:spcPts val="480"/>
              </a:spcBef>
              <a:buSzPts val="2400"/>
              <a:buFont typeface="Wingdings" panose="05000000000000000000" charset="0"/>
              <a:buChar char="Ø"/>
            </a:pPr>
            <a:r>
              <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Provides multilingual voice responses for analytical queries,Creates an AI-driven conversational decision-support layer for retailers.</a:t>
            </a:r>
            <a:endParaRPr lang="en-US" altLang="en-US" sz="20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pic>
        <p:nvPicPr>
          <p:cNvPr id="237" name="Google Shape;237;p25"/>
          <p:cNvPicPr preferRelativeResize="0"/>
          <p:nvPr/>
        </p:nvPicPr>
        <p:blipFill rotWithShape="1">
          <a:blip r:embed="rId1"/>
          <a:srcRect/>
          <a:stretch>
            <a:fillRect/>
          </a:stretch>
        </p:blipFill>
        <p:spPr>
          <a:xfrm>
            <a:off x="357352" y="191626"/>
            <a:ext cx="1135117" cy="1342884"/>
          </a:xfrm>
          <a:prstGeom prst="rect">
            <a:avLst/>
          </a:prstGeom>
          <a:noFill/>
          <a:ln>
            <a:noFill/>
          </a:ln>
        </p:spPr>
      </p:pic>
      <p:pic>
        <p:nvPicPr>
          <p:cNvPr id="238" name="Google Shape;238;p25"/>
          <p:cNvPicPr preferRelativeResize="0"/>
          <p:nvPr/>
        </p:nvPicPr>
        <p:blipFill rotWithShape="1">
          <a:blip r:embed="rId2"/>
          <a:srcRect/>
          <a:stretch>
            <a:fillRect/>
          </a:stretch>
        </p:blipFill>
        <p:spPr>
          <a:xfrm>
            <a:off x="10514231" y="191626"/>
            <a:ext cx="1520114" cy="13428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panose="02020603050405020304"/>
              <a:buNone/>
            </a:pPr>
            <a:r>
              <a:rPr lang="en-US" sz="3200" b="1" dirty="0">
                <a:latin typeface="Times New Roman" panose="02020603050405020304"/>
                <a:ea typeface="Times New Roman" panose="02020603050405020304"/>
                <a:cs typeface="Times New Roman" panose="02020603050405020304"/>
                <a:sym typeface="Times New Roman" panose="02020603050405020304"/>
              </a:rPr>
              <a:t>Conclusion</a:t>
            </a:r>
            <a:endParaRPr lang="en-US" sz="32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47" name="Google Shape;247;p26"/>
          <p:cNvSpPr txBox="1">
            <a:spLocks noGrp="1"/>
          </p:cNvSpPr>
          <p:nvPr>
            <p:ph type="body" idx="1"/>
          </p:nvPr>
        </p:nvSpPr>
        <p:spPr>
          <a:xfrm>
            <a:off x="1061545" y="839787"/>
            <a:ext cx="10972800" cy="4938713"/>
          </a:xfrm>
          <a:prstGeom prst="rect">
            <a:avLst/>
          </a:prstGeom>
          <a:noFill/>
          <a:ln>
            <a:noFill/>
          </a:ln>
        </p:spPr>
        <p:txBody>
          <a:bodyPr spcFirstLastPara="1" wrap="square" lIns="91425" tIns="45700" rIns="91425" bIns="45700" anchor="t" anchorCtr="0">
            <a:noAutofit/>
          </a:bodyPr>
          <a:lstStyle/>
          <a:p>
            <a:pPr marL="584200" lvl="0" indent="-457200" algn="l" rtl="0">
              <a:lnSpc>
                <a:spcPct val="115000"/>
              </a:lnSpc>
              <a:spcBef>
                <a:spcPts val="0"/>
              </a:spcBef>
              <a:spcAft>
                <a:spcPts val="0"/>
              </a:spcAft>
              <a:buClr>
                <a:srgbClr val="000000"/>
              </a:buClr>
              <a:buSzPts val="1600"/>
              <a:buFont typeface="Wingdings" panose="05000000000000000000" charset="0"/>
              <a:buChar char="Ø"/>
            </a:pPr>
            <a:br>
              <a:rPr lang="en-US" sz="2000" dirty="0">
                <a:latin typeface="Times New Roman" panose="02020603050405020304"/>
                <a:ea typeface="Times New Roman" panose="02020603050405020304"/>
                <a:cs typeface="Times New Roman" panose="02020603050405020304"/>
                <a:sym typeface="Times New Roman" panose="02020603050405020304"/>
              </a:rPr>
            </a:br>
            <a:endParaRPr sz="2000" dirty="0">
              <a:latin typeface="Times New Roman" panose="02020603050405020304"/>
              <a:ea typeface="Times New Roman" panose="02020603050405020304"/>
              <a:cs typeface="Times New Roman" panose="02020603050405020304"/>
              <a:sym typeface="Times New Roman" panose="02020603050405020304"/>
            </a:endParaRPr>
          </a:p>
          <a:p>
            <a:pPr marL="469900" algn="just">
              <a:lnSpc>
                <a:spcPct val="150000"/>
              </a:lnSpc>
              <a:spcBef>
                <a:spcPts val="400"/>
              </a:spcBef>
              <a:buSzPts val="2000"/>
              <a:buFont typeface="Wingdings" panose="05000000000000000000" charset="0"/>
              <a:buChar char="Ø"/>
            </a:pPr>
            <a:r>
              <a:rPr lang="en-IN"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Developed a multilingual, voice-enabled billing system using advanced NLP techniques for micro-retail stores.</a:t>
            </a:r>
            <a:endParaRPr lang="en-US" altLang="en-US" sz="2000" dirty="0">
              <a:latin typeface="Times New Roman" panose="02020603050405020304" pitchFamily="18" charset="0"/>
              <a:cs typeface="Times New Roman" panose="02020603050405020304" pitchFamily="18" charset="0"/>
            </a:endParaRPr>
          </a:p>
          <a:p>
            <a:pPr marL="469900" algn="just">
              <a:lnSpc>
                <a:spcPct val="150000"/>
              </a:lnSpc>
              <a:spcBef>
                <a:spcPts val="400"/>
              </a:spcBef>
              <a:buSzPts val="2000"/>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Enables retailers to perform billing operations through natural spoken commands in multiple languages and code-mixed speech.</a:t>
            </a:r>
            <a:endParaRPr lang="en-US" altLang="en-US" sz="2000" dirty="0">
              <a:latin typeface="Times New Roman" panose="02020603050405020304" pitchFamily="18" charset="0"/>
              <a:cs typeface="Times New Roman" panose="02020603050405020304" pitchFamily="18" charset="0"/>
            </a:endParaRPr>
          </a:p>
          <a:p>
            <a:pPr marL="469900" algn="just">
              <a:lnSpc>
                <a:spcPct val="150000"/>
              </a:lnSpc>
              <a:spcBef>
                <a:spcPts val="400"/>
              </a:spcBef>
              <a:buSzPts val="2000"/>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Integrates ASR, language identification, intent classification, NER, semantic matching and contextual understanding.</a:t>
            </a:r>
            <a:endParaRPr lang="en-US" altLang="en-US" sz="2000" dirty="0">
              <a:latin typeface="Times New Roman" panose="02020603050405020304" pitchFamily="18" charset="0"/>
              <a:cs typeface="Times New Roman" panose="02020603050405020304" pitchFamily="18" charset="0"/>
            </a:endParaRPr>
          </a:p>
          <a:p>
            <a:pPr marL="469900" algn="just">
              <a:lnSpc>
                <a:spcPct val="150000"/>
              </a:lnSpc>
              <a:spcBef>
                <a:spcPts val="400"/>
              </a:spcBef>
              <a:buSzPts val="2000"/>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Supports context-aware product identification, billing modifications, invoice queries and conversational corrections.</a:t>
            </a:r>
            <a:endParaRPr lang="en-US" altLang="en-US" sz="2000" dirty="0">
              <a:latin typeface="Times New Roman" panose="02020603050405020304" pitchFamily="18" charset="0"/>
              <a:cs typeface="Times New Roman" panose="02020603050405020304" pitchFamily="18" charset="0"/>
            </a:endParaRPr>
          </a:p>
          <a:p>
            <a:pPr marL="469900" algn="just">
              <a:lnSpc>
                <a:spcPct val="150000"/>
              </a:lnSpc>
              <a:spcBef>
                <a:spcPts val="400"/>
              </a:spcBef>
              <a:buSzPts val="2000"/>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Provides natural-language sales, inventory and business analytics through voice or text.</a:t>
            </a:r>
            <a:endParaRPr lang="en-US" altLang="en-US" sz="2000" dirty="0">
              <a:latin typeface="Times New Roman" panose="02020603050405020304" pitchFamily="18" charset="0"/>
              <a:cs typeface="Times New Roman" panose="02020603050405020304" pitchFamily="18" charset="0"/>
            </a:endParaRPr>
          </a:p>
          <a:p>
            <a:pPr marL="469900" algn="just">
              <a:lnSpc>
                <a:spcPct val="150000"/>
              </a:lnSpc>
              <a:spcBef>
                <a:spcPts val="400"/>
              </a:spcBef>
              <a:buSzPts val="2000"/>
              <a:buFont typeface="Wingdings" panose="05000000000000000000" charset="0"/>
              <a:buChar char="Ø"/>
            </a:pPr>
            <a:r>
              <a:rPr lang="en-US" altLang="en-US" sz="2000" dirty="0">
                <a:latin typeface="Times New Roman" panose="02020603050405020304" pitchFamily="18" charset="0"/>
                <a:cs typeface="Times New Roman" panose="02020603050405020304" pitchFamily="18" charset="0"/>
              </a:rPr>
              <a:t>Reduces manual data entry, improves billing efficiency and provides a more accessible and intelligent POS experience.</a:t>
            </a:r>
            <a:endParaRPr lang="en-US" altLang="en-US" sz="2000" dirty="0">
              <a:latin typeface="Times New Roman" panose="02020603050405020304" pitchFamily="18" charset="0"/>
              <a:cs typeface="Times New Roman" panose="02020603050405020304" pitchFamily="18" charset="0"/>
            </a:endParaRPr>
          </a:p>
        </p:txBody>
      </p:sp>
      <p:pic>
        <p:nvPicPr>
          <p:cNvPr id="248" name="Google Shape;248;p26"/>
          <p:cNvPicPr preferRelativeResize="0"/>
          <p:nvPr/>
        </p:nvPicPr>
        <p:blipFill rotWithShape="1">
          <a:blip r:embed="rId1"/>
          <a:srcRect/>
          <a:stretch>
            <a:fillRect/>
          </a:stretch>
        </p:blipFill>
        <p:spPr>
          <a:xfrm>
            <a:off x="571589" y="404244"/>
            <a:ext cx="1135117" cy="1342884"/>
          </a:xfrm>
          <a:prstGeom prst="rect">
            <a:avLst/>
          </a:prstGeom>
          <a:noFill/>
          <a:ln>
            <a:noFill/>
          </a:ln>
        </p:spPr>
      </p:pic>
      <p:pic>
        <p:nvPicPr>
          <p:cNvPr id="249" name="Google Shape;249;p26"/>
          <p:cNvPicPr preferRelativeResize="0"/>
          <p:nvPr/>
        </p:nvPicPr>
        <p:blipFill rotWithShape="1">
          <a:blip r:embed="rId2"/>
          <a:srcRect/>
          <a:stretch>
            <a:fillRect/>
          </a:stretch>
        </p:blipFill>
        <p:spPr>
          <a:xfrm>
            <a:off x="10100297" y="408442"/>
            <a:ext cx="1520114" cy="13428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60" name="Google Shape;260;p27"/>
          <p:cNvPicPr preferRelativeResize="0"/>
          <p:nvPr/>
        </p:nvPicPr>
        <p:blipFill rotWithShape="1">
          <a:blip r:embed="rId1"/>
          <a:srcRect/>
          <a:stretch>
            <a:fillRect/>
          </a:stretch>
        </p:blipFill>
        <p:spPr>
          <a:xfrm>
            <a:off x="10062286" y="393171"/>
            <a:ext cx="1520114" cy="1342884"/>
          </a:xfrm>
          <a:prstGeom prst="rect">
            <a:avLst/>
          </a:prstGeom>
          <a:noFill/>
          <a:ln>
            <a:noFill/>
          </a:ln>
        </p:spPr>
      </p:pic>
      <p:pic>
        <p:nvPicPr>
          <p:cNvPr id="261" name="Google Shape;261;p27"/>
          <p:cNvPicPr preferRelativeResize="0"/>
          <p:nvPr/>
        </p:nvPicPr>
        <p:blipFill rotWithShape="1">
          <a:blip r:embed="rId2"/>
          <a:srcRect/>
          <a:stretch>
            <a:fillRect/>
          </a:stretch>
        </p:blipFill>
        <p:spPr>
          <a:xfrm>
            <a:off x="609600" y="501648"/>
            <a:ext cx="1135117" cy="1342884"/>
          </a:xfrm>
          <a:prstGeom prst="rect">
            <a:avLst/>
          </a:prstGeom>
          <a:noFill/>
          <a:ln>
            <a:noFill/>
          </a:ln>
        </p:spPr>
      </p:pic>
      <p:pic>
        <p:nvPicPr>
          <p:cNvPr id="262" name="Google Shape;262;p27"/>
          <p:cNvPicPr preferRelativeResize="0"/>
          <p:nvPr/>
        </p:nvPicPr>
        <p:blipFill rotWithShape="1">
          <a:blip r:embed="rId3"/>
          <a:srcRect/>
          <a:stretch>
            <a:fillRect/>
          </a:stretch>
        </p:blipFill>
        <p:spPr>
          <a:xfrm>
            <a:off x="1926102" y="2057875"/>
            <a:ext cx="7858921" cy="373155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6935</Words>
  <Application>WPS Presentation</Application>
  <PresentationFormat>Widescreen</PresentationFormat>
  <Paragraphs>156</Paragraphs>
  <Slides>14</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Arial</vt:lpstr>
      <vt:lpstr>Calibri</vt:lpstr>
      <vt:lpstr>Times New Roman</vt:lpstr>
      <vt:lpstr>Times New Roman</vt:lpstr>
      <vt:lpstr>Noto Sans Symbols</vt:lpstr>
      <vt:lpstr>Microsoft YaHei</vt:lpstr>
      <vt:lpstr>Arial Unicode MS</vt:lpstr>
      <vt:lpstr>Segoe Print</vt:lpstr>
      <vt:lpstr>Wingdings</vt:lpstr>
      <vt:lpstr>Office Theme</vt:lpstr>
      <vt:lpstr>ECA4703-PRINCIPLES OF DIGITAL SYSTEM DESIGN  </vt:lpstr>
      <vt:lpstr>ABSTRACT</vt:lpstr>
      <vt:lpstr>INTRODUCTION</vt:lpstr>
      <vt:lpstr>OBJECTIVES</vt:lpstr>
      <vt:lpstr>PROBLEM STATEMENT</vt:lpstr>
      <vt:lpstr>PowerPoint 演示文稿</vt:lpstr>
      <vt:lpstr>PowerPoint 演示文稿</vt:lpstr>
      <vt:lpstr>MODULE – 1  Infrared Vehicles</vt:lpstr>
      <vt:lpstr>MODULE – 2 Antenna Design and Modeling</vt:lpstr>
      <vt:lpstr>MODULE – 3  Simulation and Optimization</vt:lpstr>
      <vt:lpstr>MODULE – 2  Vehicle Counting Module</vt:lpstr>
      <vt:lpstr>Module 3-Display and User Interface</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ECA4701</dc:title>
  <dc:creator>Siva Kumar</dc:creator>
  <cp:lastModifiedBy>Lokiedit</cp:lastModifiedBy>
  <cp:revision>17</cp:revision>
  <dcterms:created xsi:type="dcterms:W3CDTF">2026-08-28T13:28:09Z</dcterms:created>
  <dcterms:modified xsi:type="dcterms:W3CDTF">2026-08-29T03:00:52Z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76EA0CDC1F4E42C78F2B4648C03AEC7B_13</vt:lpwstr>
  </property>
</Properties>
</file>